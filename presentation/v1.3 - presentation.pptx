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Ysabeau Light"/>
      <p:regular r:id="rId201314"/>
    </p:embeddedFont>
    <p:embeddedFont>
      <p:font typeface="Ysabeau Office"/>
      <p:regular r:id="rId201315"/>
    </p:embeddedFont>
    <p:embeddedFont>
      <p:font typeface="Ysabeau Office Medium"/>
      <p:regular r:id="rId201316"/>
    </p:embeddedFont>
    <p:embeddedFont>
      <p:font typeface="Ysabeau Office SemiBold"/>
      <p:regular r:id="rId201317"/>
    </p:embeddedFont>
    <p:embeddedFont>
      <p:font typeface="Ysabeau Offic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35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7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7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2600"/>
              </a:spcAft>
              <a:buNone/>
            </a:pPr>
            <a:r>
              <a:rPr lang="en-US" sz="1300" spc="182" kern="100" dirty="0">
                <a:solidFill>
                  <a:srgbClr val="FFFFFF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CIE3 PROJECT | ARES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spc="182" kern="100" dirty="0">
                <a:solidFill>
                  <a:srgbClr val="FFFFFF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ARTIFICIAL INTELLIGENCE &amp; MACHINE LEARNING · CALCULUS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494317"/>
            <a:ext cx="1097252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60" kern="100" dirty="0">
                <a:solidFill>
                  <a:srgbClr val="FFFFFF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ARES: Adaptive Reinforcement-based Endpoint Security</a:t>
            </a:r>
            <a:endParaRPr lang="en-US" sz="4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789436"/>
          <a:ext cx="10972526" cy="914400"/>
        </p:xfrm>
        <a:graphic>
          <a:graphicData uri="http://schemas.openxmlformats.org/drawingml/2006/table">
            <a:tbl>
              <a:tblPr/>
              <a:tblGrid>
                <a:gridCol w="1316699"/>
                <a:gridCol w="4937597"/>
                <a:gridCol w="4718230"/>
              </a:tblGrid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Sl No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Student Name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Student USN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1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Aryan S Jain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1RUA25CSE0087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2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Ashwin Chandrashekar Naik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1RUA25CSE0090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3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Ashwin Rajesha Bhat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1RUA25CSE0091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4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Ashwin Subramaniam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1RUA25CSE0092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160310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82" kern="100" dirty="0">
                <a:solidFill>
                  <a:srgbClr val="D45E68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THE THREAT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2476158"/>
            <a:ext cx="10972526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43" kern="100" dirty="0">
                <a:solidFill>
                  <a:srgbClr val="ECE7DA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Phishing hides the destination before the user can judge it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3055342"/>
            <a:ext cx="81516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spc="8" kern="100" dirty="0">
                <a:solidFill>
                  <a:srgbClr val="CA7978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09585" y="3329384"/>
            <a:ext cx="3352716" cy="12601"/>
          </a:xfrm>
          <a:prstGeom prst="rect">
            <a:avLst/>
          </a:prstGeom>
          <a:solidFill>
            <a:srgbClr val="CA7978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474839"/>
            <a:ext cx="3352716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17" kern="100" dirty="0">
                <a:solidFill>
                  <a:srgbClr val="ECE7DA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Scan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09585" y="3886557"/>
            <a:ext cx="3352716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Quishing uses malicious QR codes to conceal a URL until after the scan.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419489" y="3055342"/>
            <a:ext cx="81516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spc="8" kern="100" dirty="0">
                <a:solidFill>
                  <a:srgbClr val="CA7978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419489" y="3329384"/>
            <a:ext cx="3352716" cy="12601"/>
          </a:xfrm>
          <a:prstGeom prst="rect">
            <a:avLst/>
          </a:prstGeom>
          <a:solidFill>
            <a:srgbClr val="CA7978"/>
          </a:solidFill>
          <a:ln/>
        </p:spPr>
      </p:sp>
      <p:sp>
        <p:nvSpPr>
          <p:cNvPr id="10" name="Text 8"/>
          <p:cNvSpPr/>
          <p:nvPr/>
        </p:nvSpPr>
        <p:spPr>
          <a:xfrm>
            <a:off x="4419489" y="3474839"/>
            <a:ext cx="3352716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17" kern="100" dirty="0">
                <a:solidFill>
                  <a:srgbClr val="ECE7DA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Inspect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419489" y="3886557"/>
            <a:ext cx="3352716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ARES decides from the URL string alone, before page fetch or navigation, using 24 lexical features.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394" y="3055342"/>
            <a:ext cx="81516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spc="8" kern="100" dirty="0">
                <a:solidFill>
                  <a:srgbClr val="CA7978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394" y="3329384"/>
            <a:ext cx="3352716" cy="12601"/>
          </a:xfrm>
          <a:prstGeom prst="rect">
            <a:avLst/>
          </a:prstGeom>
          <a:solidFill>
            <a:srgbClr val="CA797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394" y="3474839"/>
            <a:ext cx="3352716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17" kern="100" dirty="0">
                <a:solidFill>
                  <a:srgbClr val="ECE7DA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Balance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229394" y="3886557"/>
            <a:ext cx="3352716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The deployment problem is operational: balance missed attacks, false alarms, and analyst review effort.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9718"/>
            <a:ext cx="10972526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43" kern="100" dirty="0">
                <a:solidFill>
                  <a:srgbClr val="ECE7DA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The original ARES architecture turns a QR scan into a policy decision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7833" y="1199852"/>
            <a:ext cx="5135930" cy="2285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2268" y="1402290"/>
            <a:ext cx="1230431" cy="149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spc="14" kern="100" dirty="0">
                <a:solidFill>
                  <a:srgbClr val="C9CFC4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QR Code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381540" y="3133069"/>
            <a:ext cx="1230431" cy="149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spc="14" kern="100" dirty="0">
                <a:solidFill>
                  <a:srgbClr val="C9CFC4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Decoded URL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115947" y="1402290"/>
            <a:ext cx="1230431" cy="149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spc="14" kern="100" dirty="0">
                <a:solidFill>
                  <a:srgbClr val="C9CFC4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24 Lexical Features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845218" y="3127933"/>
            <a:ext cx="1230431" cy="149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spc="14" kern="100" dirty="0">
                <a:solidFill>
                  <a:srgbClr val="C9CFC4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Calibrated Probability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79624" y="1402290"/>
            <a:ext cx="1230432" cy="149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spc="14" kern="100" dirty="0">
                <a:solidFill>
                  <a:srgbClr val="C9CFC4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Adaptive Agent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308897" y="3122797"/>
            <a:ext cx="1230431" cy="149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spc="14" kern="100" dirty="0">
                <a:solidFill>
                  <a:srgbClr val="C9CFC4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Allow / Review / Block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9585" y="3679825"/>
            <a:ext cx="5333867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17" kern="100" dirty="0">
                <a:solidFill>
                  <a:srgbClr val="ECE7DA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feature_extractor.py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09585" y="4091543"/>
            <a:ext cx="533386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Decode the QR payload and extract lexical URL signals: entropy, host/path length, suspicious-word count, shortener, punycode, and TLD-risk flags.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248244" y="3679825"/>
            <a:ext cx="5333867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17" kern="100" dirty="0">
                <a:solidFill>
                  <a:srgbClr val="ECE7DA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train_model.py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48244" y="4091543"/>
            <a:ext cx="5333867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Train the phishing classifier and calibrate its probability output.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09585" y="5231904"/>
            <a:ext cx="5333867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17" kern="100" dirty="0">
                <a:solidFill>
                  <a:srgbClr val="ECE7DA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adaptive_agent.py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09585" y="5643622"/>
            <a:ext cx="5333867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Map probability to Allow, Review, or Block through two thresholds, with feedback-aware adaptation.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248244" y="5231904"/>
            <a:ext cx="5333867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17" kern="100" dirty="0">
                <a:solidFill>
                  <a:srgbClr val="ECE7DA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app.py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248244" y="5643622"/>
            <a:ext cx="5333867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Present the verdict in the Streamlit endpoint interface.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82" kern="100" dirty="0">
                <a:solidFill>
                  <a:srgbClr val="C9CFC4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BASELINE · HELD-OUT 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3704"/>
            <a:ext cx="10972526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43" kern="100" dirty="0">
                <a:solidFill>
                  <a:srgbClr val="C9CFC4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The baseline established a strong but costly operating point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1520190"/>
            <a:ext cx="11582110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GroupShuffleSplit by registrable domain: 17,057 training URLs and 5,083 held-out URLs across 1,497 unseen test domains.</a:t>
            </a:r>
            <a:endParaRPr lang="en-US" sz="15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940818"/>
          <a:ext cx="10972526" cy="914400"/>
        </p:xfrm>
        <a:graphic>
          <a:graphicData uri="http://schemas.openxmlformats.org/drawingml/2006/table">
            <a:tbl>
              <a:tblPr/>
              <a:tblGrid>
                <a:gridCol w="7461262"/>
                <a:gridCol w="3511264"/>
              </a:tblGrid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Measure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Value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Random Forest ROC-AUC; PR-AUC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0.9902; 0.9953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Brier score; Cost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0.0353; 0.3873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Review threshold; Block threshold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0.35; 0.70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FPR; FNR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7.18%; 5.81%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Review rate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3.66%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755019"/>
            <a:ext cx="10972526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The evaluation protocol and held-out setup are documented in baseline.pdf; the Random Forest comparison and threshold operating point are reported in the IEEE report.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427979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82" kern="100" dirty="0">
                <a:solidFill>
                  <a:srgbClr val="D45E68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MODEL AND CALIBRATION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3704"/>
            <a:ext cx="3670208" cy="1649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43" kern="100" dirty="0">
                <a:solidFill>
                  <a:srgbClr val="ECE7DA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XGBoost improved ranking and gave the policy better-calibrated probabilities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2750245"/>
            <a:ext cx="3670208" cy="2106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350"/>
              </a:spcAft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XGBClassifier: 400 trees, depth 8, learning rate 0.05, subsample 0.9, column subsample 0.9, histogram tree method, and binary logistic objective.</a:t>
            </a:r>
            <a:endParaRPr lang="en-US" sz="15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scale_pos_weight = 0.5564. Five-fold GroupKFold isotonic calibration prevents domain leakage across calibration folds.</a:t>
            </a:r>
            <a:endParaRPr lang="en-US" sz="15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56151" y="2553692"/>
          <a:ext cx="5625959" cy="914400"/>
        </p:xfrm>
        <a:graphic>
          <a:graphicData uri="http://schemas.openxmlformats.org/drawingml/2006/table">
            <a:tbl>
              <a:tblPr/>
              <a:tblGrid>
                <a:gridCol w="2362835"/>
                <a:gridCol w="1631512"/>
                <a:gridCol w="1631612"/>
              </a:tblGrid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ECE7DA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Metric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ECE7DA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Random Forest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ECE7DA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XGBoost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ROC-AUC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0.9902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0.9929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PR-AUC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0.9953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0.9976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Brier score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0.0353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0.0297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643119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82" kern="100" dirty="0">
                <a:solidFill>
                  <a:srgbClr val="D45E68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CORE 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3704"/>
            <a:ext cx="5821614" cy="1237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43" kern="100" dirty="0">
                <a:solidFill>
                  <a:srgbClr val="ECE7DA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The core contribution is optimizing the Allow / Review / Block thresholds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2345095"/>
            <a:ext cx="6431198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Hard cost: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91123"/>
            <a:ext cx="5821614" cy="68123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650159"/>
            <a:ext cx="5821614" cy="11025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585" y="4930477"/>
            <a:ext cx="5821614" cy="1555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350"/>
              </a:spcAft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dFPR/dθ uses the sigmoid surrogate to ensure differentiability: d/dθ σ((s-θ)/τ)</a:t>
            </a:r>
            <a:endParaRPr lang="en-US" sz="15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C_FP = 1.0, C_FN = 5.0, C_review = 0.5. θr is the Review threshold and θb is the Block threshold; the policy keeps a non-empty review band. Indicator rates have zero derivative almost everywhere.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457" y="609600"/>
            <a:ext cx="2705032" cy="17503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07457" y="2537718"/>
            <a:ext cx="3474653" cy="345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550" b="1" spc="8" kern="100" dirty="0">
                <a:solidFill>
                  <a:srgbClr val="C9CFC4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0"/>
              </a:rPr>
              <a:t>Labelled probabilities:</a:t>
            </a:r>
            <a:pPr algn="l" marL="314960" indent="-31496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 Start from model probabilities.</a:t>
            </a:r>
            <a:endParaRPr lang="en-US" sz="1550" dirty="0"/>
          </a:p>
          <a:p>
            <a:pPr algn="l" marL="314960" indent="-31496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550" b="1" spc="8" kern="100" dirty="0">
                <a:solidFill>
                  <a:srgbClr val="C9CFC4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0"/>
              </a:rPr>
              <a:t>Sigmoid surrogate:</a:t>
            </a:r>
            <a:pPr algn="l" marL="314960" indent="-31496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 Replace indicators with sigmoid smoothing at τ = 0.05, making numerical derivatives usable.</a:t>
            </a:r>
            <a:endParaRPr lang="en-US" sz="1550" dirty="0"/>
          </a:p>
          <a:p>
            <a:pPr algn="l" marL="314960" indent="-31496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550" b="1" spc="8" kern="100" dirty="0">
                <a:solidFill>
                  <a:srgbClr val="C9CFC4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0"/>
              </a:rPr>
              <a:t>Derivatives:</a:t>
            </a:r>
            <a:pPr algn="l" marL="314960" indent="-31496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 Use numerical derivatives and constrained gradient descent.</a:t>
            </a:r>
            <a:endParaRPr lang="en-US" sz="1550" dirty="0"/>
          </a:p>
          <a:p>
            <a:pPr algn="l" marL="314960" indent="-31496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550" b="1" spc="8" kern="100" dirty="0">
                <a:solidFill>
                  <a:srgbClr val="C9CFC4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0"/>
              </a:rPr>
              <a:t>Projected threshold update:</a:t>
            </a:r>
            <a:pPr algn="l" marL="314960" indent="-31496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 Project thresholds to a feasible Allow / Review / Block policy; labelled analyst feedback can trigger a re-run on updated probabilities.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564887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82" kern="100" dirty="0">
                <a:solidFill>
                  <a:srgbClr val="D45E68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CALCULUS EXPERIMENT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16682"/>
            <a:ext cx="503929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spc="19" kern="100" dirty="0">
                <a:solidFill>
                  <a:srgbClr val="ECE7DA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Total expected cost converged from 0.3873 to 0.3676 in 29 iterations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09585" y="1665585"/>
            <a:ext cx="5039293" cy="2186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350"/>
              </a:spcAft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Start near θr = 0.32 and θb = 0.47 with a fixed gap of 0.15.</a:t>
            </a:r>
            <a:endParaRPr lang="en-US" sz="1550" dirty="0"/>
          </a:p>
          <a:p>
            <a:pPr algn="l" indent="0" marL="0">
              <a:lnSpc>
                <a:spcPct val="117000"/>
              </a:lnSpc>
              <a:spcAft>
                <a:spcPts val="1350"/>
              </a:spcAft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Projected gradient descent converged to θr = 0.60 and θb = 0.75.</a:t>
            </a:r>
            <a:endParaRPr lang="en-US" sz="1550" dirty="0"/>
          </a:p>
          <a:p>
            <a:pPr algn="l" indent="0" marL="0">
              <a:lnSpc>
                <a:spcPct val="117000"/>
              </a:lnSpc>
              <a:spcAft>
                <a:spcPts val="1350"/>
              </a:spcAft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Learning rate η = 0.05; sigmoid temperature τ = 0.05.</a:t>
            </a:r>
            <a:endParaRPr lang="en-US" sz="15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Second derivatives at the returned point were positive: 0.4848 for θr and 19.3283 for θb, confirming local minimum.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029968"/>
            <a:ext cx="3708307" cy="239950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137" y="1044178"/>
            <a:ext cx="4256973" cy="34897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25137" y="4719003"/>
            <a:ext cx="4256973" cy="1102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Total expected cost fell from 0.3873 to 0.3676 as both thresholds moved from θr = 0.32, θb = 0.47 to θr = 0.60, θb = 0.75, preserving the 0.15 review-band gap.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427979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82" kern="100" dirty="0">
                <a:solidFill>
                  <a:srgbClr val="D45E68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OPERATING-POINT 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3704"/>
            <a:ext cx="3670208" cy="1649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43" kern="100" dirty="0">
                <a:solidFill>
                  <a:srgbClr val="ECE7DA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Optimizing thresholds reduced friction more than it increased misses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2757547"/>
            <a:ext cx="3670208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Higher thresholds sharply reduced false alarms and analyst review, while the false-negative increase remained limited.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765550"/>
            <a:ext cx="3670208" cy="248285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56151" y="1701105"/>
          <a:ext cx="5625959" cy="914400"/>
        </p:xfrm>
        <a:graphic>
          <a:graphicData uri="http://schemas.openxmlformats.org/drawingml/2006/table">
            <a:tbl>
              <a:tblPr/>
              <a:tblGrid>
                <a:gridCol w="1969145"/>
                <a:gridCol w="1181368"/>
                <a:gridCol w="1181368"/>
                <a:gridCol w="1294078"/>
              </a:tblGrid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ECE7DA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Measure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ECE7DA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Baseline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ECE7DA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Optimized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ECE7DA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Change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7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Cost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0.3873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0.3676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5.1% reduction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False-positive rate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7.18%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3.28%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down 54%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Review rate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3.66%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1.36%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down 63%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02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False-negative rate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5.81%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6.37%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up 0.56 percentage points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Missed phishing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B2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221 URLs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B2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242 URLs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B2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+21 URLs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B2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82" kern="100" dirty="0">
                <a:solidFill>
                  <a:srgbClr val="D45E68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ADAPTIVE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3704"/>
            <a:ext cx="10972526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43" kern="100" dirty="0">
                <a:solidFill>
                  <a:srgbClr val="ECE7DA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ARES closes the loop from QR scan to adaptive learning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1443038"/>
            <a:ext cx="81516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spc="8" kern="100" dirty="0">
                <a:solidFill>
                  <a:srgbClr val="CA7978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09585" y="1717080"/>
            <a:ext cx="2400240" cy="12601"/>
          </a:xfrm>
          <a:prstGeom prst="rect">
            <a:avLst/>
          </a:prstGeom>
          <a:solidFill>
            <a:srgbClr val="CA7978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862534"/>
            <a:ext cx="2400240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17" kern="100" dirty="0">
                <a:solidFill>
                  <a:srgbClr val="ECE7DA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Decode offline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09585" y="2274253"/>
            <a:ext cx="2400240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Decode the QR payload and extract lexical URL features offline.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467013" y="1443038"/>
            <a:ext cx="81516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spc="8" kern="100" dirty="0">
                <a:solidFill>
                  <a:srgbClr val="CA7978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467013" y="1717080"/>
            <a:ext cx="2400240" cy="12601"/>
          </a:xfrm>
          <a:prstGeom prst="rect">
            <a:avLst/>
          </a:prstGeom>
          <a:solidFill>
            <a:srgbClr val="CA7978"/>
          </a:solidFill>
          <a:ln/>
        </p:spPr>
      </p:sp>
      <p:sp>
        <p:nvSpPr>
          <p:cNvPr id="10" name="Text 8"/>
          <p:cNvSpPr/>
          <p:nvPr/>
        </p:nvSpPr>
        <p:spPr>
          <a:xfrm>
            <a:off x="3467013" y="1862534"/>
            <a:ext cx="2400240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17" kern="100" dirty="0">
                <a:solidFill>
                  <a:srgbClr val="ECE7DA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Score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467013" y="2274253"/>
            <a:ext cx="2400240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Score the URL with calibrated XGBoost.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24442" y="1443038"/>
            <a:ext cx="81516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spc="8" kern="100" dirty="0">
                <a:solidFill>
                  <a:srgbClr val="CA7978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324442" y="1717080"/>
            <a:ext cx="2400240" cy="12601"/>
          </a:xfrm>
          <a:prstGeom prst="rect">
            <a:avLst/>
          </a:prstGeom>
          <a:solidFill>
            <a:srgbClr val="CA7978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1862534"/>
            <a:ext cx="2400240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17" kern="100" dirty="0">
                <a:solidFill>
                  <a:srgbClr val="ECE7DA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Decide and learn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324442" y="2274253"/>
            <a:ext cx="2400240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Dashboard returns Allow, Review, or Block; analyst labels become feedback.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181870" y="1443038"/>
            <a:ext cx="81516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spc="8" kern="100" dirty="0">
                <a:solidFill>
                  <a:srgbClr val="CA7978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181870" y="1717080"/>
            <a:ext cx="2400240" cy="12601"/>
          </a:xfrm>
          <a:prstGeom prst="rect">
            <a:avLst/>
          </a:prstGeom>
          <a:solidFill>
            <a:srgbClr val="CA7978"/>
          </a:solidFill>
          <a:ln/>
        </p:spPr>
      </p:sp>
      <p:sp>
        <p:nvSpPr>
          <p:cNvPr id="18" name="Text 16"/>
          <p:cNvSpPr/>
          <p:nvPr/>
        </p:nvSpPr>
        <p:spPr>
          <a:xfrm>
            <a:off x="9181870" y="1862534"/>
            <a:ext cx="2400240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17" kern="100" dirty="0">
                <a:solidFill>
                  <a:srgbClr val="ECE7DA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Re-run policy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181870" y="2274253"/>
            <a:ext cx="2400240" cy="1653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Re-run the calculus policy on labelled probabilities, while the heuristic reinforcement-style controller remains available for online refinement.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09585" y="4079835"/>
            <a:ext cx="5257668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The system is designed for QR phishing detection without fetching page content.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324442" y="4079835"/>
            <a:ext cx="5257668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50" spc="8" kern="100" dirty="0">
                <a:solidFill>
                  <a:srgbClr val="C9CFC4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The heuristic policy uses reward-driven updates; the calculus policy provides an explicit cost objective plus gradient, curvature, and KKT diagnostics.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82" kern="100" dirty="0">
                <a:solidFill>
                  <a:srgbClr val="D45E68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3704"/>
            <a:ext cx="10972526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43" kern="100" dirty="0">
                <a:solidFill>
                  <a:srgbClr val="ECE7DA"/>
                </a:solidFill>
                <a:latin typeface="Ysabeau Light" pitchFamily="34" charset="0"/>
                <a:ea typeface="Ysabeau Light" pitchFamily="34" charset="-122"/>
                <a:cs typeface="Ysabeau Light" pitchFamily="34" charset="0"/>
              </a:rPr>
              <a:t>ARES makes the policy itself an optimizable security decision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468438"/>
          <a:ext cx="10972526" cy="914400"/>
        </p:xfrm>
        <a:graphic>
          <a:graphicData uri="http://schemas.openxmlformats.org/drawingml/2006/table">
            <a:tbl>
              <a:tblPr/>
              <a:tblGrid>
                <a:gridCol w="2852765"/>
                <a:gridCol w="8119760"/>
              </a:tblGrid>
              <a:tr h="439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ECE7DA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Takeaway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ECE7DA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Evidence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7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Model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XGBoost + isotonic calibration reached ROC-AUC 0.9929, PR-AUC 0.9976, and Brier score 0.0297, versus Random Forest at 0.9902, 0.9953, and 0.0353.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7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Operating point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Optimized thresholds 0.60 / 0.75 replaced the hand-chosen 0.35 / 0.70 policy; cost fell 5.1%, FPR fell 54%, and review rate fell 63%.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3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Future work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spc="8" kern="100" dirty="0">
                          <a:solidFill>
                            <a:srgbClr val="C9CFC4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0"/>
                        </a:rPr>
                        <a:t>Live page and redirect analysis, independently collected evaluation data, wider threshold bounds and full-Hessian analysis, hybrid heuristic-plus-calculus adaptation, and real benign QR traffic.</a:t>
                      </a:r>
                      <a:endParaRPr lang="en-US" sz="155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3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604204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26" kern="100" dirty="0">
                <a:solidFill>
                  <a:srgbClr val="ECE7DA"/>
                </a:solidFill>
                <a:latin typeface="Ysabeau Office" pitchFamily="34" charset="0"/>
                <a:ea typeface="Ysabeau Office" pitchFamily="34" charset="-122"/>
                <a:cs typeface="Ysabeau Office" pitchFamily="34" charset="0"/>
              </a:rPr>
              <a:t>From URL-only detection to an adaptive, feedback-aware policy.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2026-10-26T10:53:15Z</dcterms:created>
  <dcterms:modified xsi:type="dcterms:W3CDTF">2026-10-26T10:53:15Z</dcterms:modified>
</cp:coreProperties>
</file>